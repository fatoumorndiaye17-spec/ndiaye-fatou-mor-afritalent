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71" r:id="rId4"/>
    <p:sldId id="262" r:id="rId5"/>
    <p:sldId id="263" r:id="rId6"/>
    <p:sldId id="264" r:id="rId7"/>
    <p:sldId id="266" r:id="rId8"/>
    <p:sldId id="267" r:id="rId9"/>
    <p:sldId id="268" r:id="rId10"/>
    <p:sldId id="269" r:id="rId11"/>
    <p:sldId id="270" r:id="rId12"/>
  </p:sldIdLst>
  <p:sldSz cx="18288000" cy="10287000"/>
  <p:notesSz cx="6858000" cy="9144000"/>
  <p:embeddedFontLst>
    <p:embeddedFont>
      <p:font typeface="Beautifully Delicious Script" pitchFamily="2" charset="77"/>
      <p:regular r:id="rId13"/>
    </p:embeddedFont>
    <p:embeddedFont>
      <p:font typeface="Cormorant Garamond"/>
      <p:regular r:id="rId14"/>
    </p:embeddedFont>
    <p:embeddedFont>
      <p:font typeface="Roca Two Bold" pitchFamily="2" charset="77"/>
      <p:regular r:id="rId15"/>
      <p:bold r:id="rId16"/>
    </p:embeddedFont>
    <p:embeddedFont>
      <p:font typeface="Times New Roman MT" panose="02030502070405020303"/>
      <p:regular r:id="rId17"/>
    </p:embeddedFont>
    <p:embeddedFont>
      <p:font typeface="Times New Roman MT Bold" panose="02030802070405020303"/>
      <p:regular r:id="rId18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390" autoAdjust="0"/>
    <p:restoredTop sz="94601" autoAdjust="0"/>
  </p:normalViewPr>
  <p:slideViewPr>
    <p:cSldViewPr>
      <p:cViewPr varScale="1">
        <p:scale>
          <a:sx n="69" d="100"/>
          <a:sy n="69" d="100"/>
        </p:scale>
        <p:origin x="360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8661" y="0"/>
            <a:ext cx="3981926" cy="10287000"/>
          </a:xfrm>
          <a:custGeom>
            <a:avLst/>
            <a:gdLst/>
            <a:ahLst/>
            <a:cxnLst/>
            <a:rect l="l" t="t" r="r" b="b"/>
            <a:pathLst>
              <a:path w="3981926" h="10287000">
                <a:moveTo>
                  <a:pt x="0" y="0"/>
                </a:moveTo>
                <a:lnTo>
                  <a:pt x="3981926" y="0"/>
                </a:lnTo>
                <a:lnTo>
                  <a:pt x="398192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fr-FR" dirty="0"/>
          </a:p>
        </p:txBody>
      </p:sp>
      <p:sp>
        <p:nvSpPr>
          <p:cNvPr id="3" name="Freeform 3"/>
          <p:cNvSpPr/>
          <p:nvPr/>
        </p:nvSpPr>
        <p:spPr>
          <a:xfrm rot="-299058">
            <a:off x="11580599" y="-475280"/>
            <a:ext cx="10415786" cy="12060384"/>
          </a:xfrm>
          <a:custGeom>
            <a:avLst/>
            <a:gdLst/>
            <a:ahLst/>
            <a:cxnLst/>
            <a:rect l="l" t="t" r="r" b="b"/>
            <a:pathLst>
              <a:path w="10415786" h="12060384">
                <a:moveTo>
                  <a:pt x="0" y="0"/>
                </a:moveTo>
                <a:lnTo>
                  <a:pt x="10415786" y="0"/>
                </a:lnTo>
                <a:lnTo>
                  <a:pt x="10415786" y="12060384"/>
                </a:lnTo>
                <a:lnTo>
                  <a:pt x="0" y="1206038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5867400" y="8727623"/>
            <a:ext cx="6172200" cy="987877"/>
          </a:xfrm>
          <a:custGeom>
            <a:avLst/>
            <a:gdLst/>
            <a:ahLst/>
            <a:cxnLst/>
            <a:rect l="l" t="t" r="r" b="b"/>
            <a:pathLst>
              <a:path w="5757204" h="889750">
                <a:moveTo>
                  <a:pt x="0" y="0"/>
                </a:moveTo>
                <a:lnTo>
                  <a:pt x="5757204" y="0"/>
                </a:lnTo>
                <a:lnTo>
                  <a:pt x="5757204" y="889750"/>
                </a:lnTo>
                <a:lnTo>
                  <a:pt x="0" y="8897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lvl="0" algn="ctr">
              <a:lnSpc>
                <a:spcPts val="2085"/>
              </a:lnSpc>
            </a:pPr>
            <a:r>
              <a:rPr lang="en-US" sz="2800" dirty="0" err="1">
                <a:solidFill>
                  <a:srgbClr val="000000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Projet-scolaire</a:t>
            </a:r>
            <a:r>
              <a:rPr lang="en-US" sz="2800" dirty="0">
                <a:solidFill>
                  <a:srgbClr val="000000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 – Développement Web</a:t>
            </a:r>
          </a:p>
          <a:p>
            <a:pPr lvl="0" algn="ctr">
              <a:lnSpc>
                <a:spcPts val="2085"/>
              </a:lnSpc>
            </a:pPr>
            <a:endParaRPr lang="en-US" sz="2800" dirty="0">
              <a:solidFill>
                <a:srgbClr val="000000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  <a:p>
            <a:pPr lvl="0" algn="ctr">
              <a:lnSpc>
                <a:spcPts val="2085"/>
              </a:lnSpc>
            </a:pPr>
            <a:r>
              <a:rPr lang="en-US" sz="2800" dirty="0">
                <a:solidFill>
                  <a:srgbClr val="000000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2025/2026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514600" y="1527189"/>
            <a:ext cx="13411200" cy="936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926"/>
              </a:lnSpc>
            </a:pPr>
            <a:r>
              <a:rPr lang="en-US" sz="9600" b="1" err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AfriTalent</a:t>
            </a:r>
            <a:endParaRPr lang="en-US" sz="9600" b="1">
              <a:solidFill>
                <a:srgbClr val="000000"/>
              </a:solidFill>
              <a:latin typeface="Times New Roman MT Bold"/>
              <a:ea typeface="Times New Roman MT Bold"/>
              <a:cs typeface="Times New Roman MT Bold"/>
              <a:sym typeface="Times New Roman MT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286001" y="4838700"/>
            <a:ext cx="7620000" cy="782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6102"/>
              </a:lnSpc>
            </a:pPr>
            <a:endParaRPr lang="en-US" sz="4359">
              <a:solidFill>
                <a:srgbClr val="000000"/>
              </a:solidFill>
              <a:latin typeface="Beautifully Delicious Script"/>
              <a:ea typeface="Beautifully Delicious Script"/>
              <a:cs typeface="Beautifully Delicious Script"/>
              <a:sym typeface="Beautifully Delicious Script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A4166F60-FC72-FEE1-2A9E-9ECEBA6F2AE2}"/>
              </a:ext>
            </a:extLst>
          </p:cNvPr>
          <p:cNvSpPr txBox="1"/>
          <p:nvPr/>
        </p:nvSpPr>
        <p:spPr>
          <a:xfrm>
            <a:off x="2743200" y="2646148"/>
            <a:ext cx="149352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SN" sz="3200"/>
              <a:t>                Plateforme de mise en relation entre freelances et entreprises</a:t>
            </a:r>
          </a:p>
          <a:p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A9B346E-50F7-E429-FB5D-9D5E6EBC2DBC}"/>
              </a:ext>
            </a:extLst>
          </p:cNvPr>
          <p:cNvSpPr txBox="1"/>
          <p:nvPr/>
        </p:nvSpPr>
        <p:spPr>
          <a:xfrm>
            <a:off x="1828800" y="5143500"/>
            <a:ext cx="1409700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/>
              <a:t>Prénom et Nom : Ndiaye Fatou Mor </a:t>
            </a:r>
          </a:p>
          <a:p>
            <a:endParaRPr lang="fr-FR" sz="4400"/>
          </a:p>
          <a:p>
            <a:r>
              <a:rPr lang="fr-FR" sz="4400"/>
              <a:t>Classe : L1 Informatique Appliquée a la Gestion de Entreprises (IAGE)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AF9F0F09-073D-5C44-7A17-C0B0AEE5D304}"/>
              </a:ext>
            </a:extLst>
          </p:cNvPr>
          <p:cNvSpPr txBox="1"/>
          <p:nvPr/>
        </p:nvSpPr>
        <p:spPr>
          <a:xfrm>
            <a:off x="15009541" y="111511"/>
            <a:ext cx="6114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/>
              <a:t>01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99058">
            <a:off x="11093067" y="-872901"/>
            <a:ext cx="10750098" cy="12447482"/>
          </a:xfrm>
          <a:custGeom>
            <a:avLst/>
            <a:gdLst/>
            <a:ahLst/>
            <a:cxnLst/>
            <a:rect l="l" t="t" r="r" b="b"/>
            <a:pathLst>
              <a:path w="10750098" h="12447482">
                <a:moveTo>
                  <a:pt x="0" y="0"/>
                </a:moveTo>
                <a:lnTo>
                  <a:pt x="10750099" y="0"/>
                </a:lnTo>
                <a:lnTo>
                  <a:pt x="10750099" y="12447482"/>
                </a:lnTo>
                <a:lnTo>
                  <a:pt x="0" y="124474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0" y="1009650"/>
            <a:ext cx="976213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 rot="-10800000">
            <a:off x="0" y="6748170"/>
            <a:ext cx="7077660" cy="7077660"/>
          </a:xfrm>
          <a:custGeom>
            <a:avLst/>
            <a:gdLst/>
            <a:ahLst/>
            <a:cxnLst/>
            <a:rect l="l" t="t" r="r" b="b"/>
            <a:pathLst>
              <a:path w="7077660" h="7077660">
                <a:moveTo>
                  <a:pt x="0" y="0"/>
                </a:moveTo>
                <a:lnTo>
                  <a:pt x="7077660" y="0"/>
                </a:lnTo>
                <a:lnTo>
                  <a:pt x="7077660" y="7077660"/>
                </a:lnTo>
                <a:lnTo>
                  <a:pt x="0" y="707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371601" y="1485908"/>
            <a:ext cx="8735398" cy="14491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1296"/>
              </a:lnSpc>
            </a:pPr>
            <a:r>
              <a:rPr lang="en-US" sz="8068" b="1" dirty="0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SOMMAIRE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643899" y="3538830"/>
            <a:ext cx="5595101" cy="48647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5440" lvl="2" algn="l">
              <a:lnSpc>
                <a:spcPts val="1679"/>
              </a:lnSpc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1: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Titre</a:t>
            </a: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518160" lvl="2" indent="-172720" algn="l">
              <a:lnSpc>
                <a:spcPts val="1679"/>
              </a:lnSpc>
              <a:buAutoNum type="alphaLcPeriod"/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345440" lvl="2" algn="l">
              <a:lnSpc>
                <a:spcPts val="1679"/>
              </a:lnSpc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345440" lvl="2" algn="l">
              <a:lnSpc>
                <a:spcPts val="1679"/>
              </a:lnSpc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2: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Sommaire</a:t>
            </a: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518160" lvl="2" indent="-172720" algn="l">
              <a:lnSpc>
                <a:spcPts val="1679"/>
              </a:lnSpc>
              <a:buAutoNum type="alphaLcPeriod"/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345440" lvl="2" algn="l">
              <a:lnSpc>
                <a:spcPts val="1679"/>
              </a:lnSpc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345440" lvl="2" algn="l">
              <a:lnSpc>
                <a:spcPts val="1679"/>
              </a:lnSpc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3: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Présentation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du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projet</a:t>
            </a: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518160" lvl="2" indent="-172720" algn="l">
              <a:lnSpc>
                <a:spcPts val="1679"/>
              </a:lnSpc>
              <a:buAutoNum type="alphaLcPeriod"/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518160" lvl="2" indent="-172720" algn="l">
              <a:lnSpc>
                <a:spcPts val="1679"/>
              </a:lnSpc>
              <a:buAutoNum type="alphaLcPeriod"/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345440" lvl="2" algn="l">
              <a:lnSpc>
                <a:spcPts val="1679"/>
              </a:lnSpc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4: Choix de design</a:t>
            </a:r>
          </a:p>
          <a:p>
            <a:pPr marL="345440" lvl="2" algn="l">
              <a:lnSpc>
                <a:spcPts val="1679"/>
              </a:lnSpc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345440" lvl="2" algn="l">
              <a:lnSpc>
                <a:spcPts val="1679"/>
              </a:lnSpc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345440" lvl="2" algn="l">
              <a:lnSpc>
                <a:spcPts val="1679"/>
              </a:lnSpc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5: Palette. De couleur</a:t>
            </a:r>
          </a:p>
          <a:p>
            <a:pPr marL="518160" lvl="2" indent="-172720" algn="l">
              <a:lnSpc>
                <a:spcPts val="1679"/>
              </a:lnSpc>
              <a:buAutoNum type="alphaLcPeriod"/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345440" lvl="2" algn="l">
              <a:lnSpc>
                <a:spcPts val="1679"/>
              </a:lnSpc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345440" lvl="2" algn="l">
              <a:lnSpc>
                <a:spcPts val="1679"/>
              </a:lnSpc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6: Structure du site</a:t>
            </a:r>
          </a:p>
          <a:p>
            <a:pPr marL="345440" lvl="2" algn="l">
              <a:lnSpc>
                <a:spcPts val="1679"/>
              </a:lnSpc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518160" lvl="2" indent="-172720" algn="l">
              <a:lnSpc>
                <a:spcPts val="1679"/>
              </a:lnSpc>
              <a:buAutoNum type="alphaLcPeriod"/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345440" lvl="2" algn="l">
              <a:lnSpc>
                <a:spcPts val="1679"/>
              </a:lnSpc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7: Aspects Techniques</a:t>
            </a:r>
          </a:p>
          <a:p>
            <a:pPr marL="518160" lvl="2" indent="-172720" algn="l">
              <a:lnSpc>
                <a:spcPts val="1679"/>
              </a:lnSpc>
              <a:buAutoNum type="alphaLcPeriod"/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518160" lvl="2" indent="-172720" algn="l">
              <a:lnSpc>
                <a:spcPts val="1679"/>
              </a:lnSpc>
              <a:buAutoNum type="alphaLcPeriod"/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345440" lvl="2" algn="l">
              <a:lnSpc>
                <a:spcPts val="1679"/>
              </a:lnSpc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8: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Github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et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deploiement</a:t>
            </a: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106998" y="419070"/>
            <a:ext cx="798705" cy="1088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796"/>
              </a:lnSpc>
            </a:pPr>
            <a:r>
              <a:rPr lang="en-US" sz="6283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02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386501" y="3712835"/>
            <a:ext cx="8463099" cy="15946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5440" lvl="2" algn="l">
              <a:lnSpc>
                <a:spcPts val="1679"/>
              </a:lnSpc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9: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Difficultes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rencontrés</a:t>
            </a: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518160" lvl="2" indent="-172720" algn="l">
              <a:lnSpc>
                <a:spcPts val="1679"/>
              </a:lnSpc>
              <a:buAutoNum type="alphaLcPeriod"/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518160" lvl="2" indent="-172720" algn="l">
              <a:lnSpc>
                <a:spcPts val="1679"/>
              </a:lnSpc>
              <a:buAutoNum type="alphaLcPeriod"/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345440" lvl="2" algn="l">
              <a:lnSpc>
                <a:spcPts val="1679"/>
              </a:lnSpc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10: Solution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apportées</a:t>
            </a: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345440" lvl="2" algn="l">
              <a:lnSpc>
                <a:spcPts val="1679"/>
              </a:lnSpc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345440" lvl="2" algn="l">
              <a:lnSpc>
                <a:spcPts val="1679"/>
              </a:lnSpc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345440" lvl="2" algn="l">
              <a:lnSpc>
                <a:spcPts val="1679"/>
              </a:lnSpc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11: Conclusion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89FBADC9-14CD-A968-EC17-5759A6061E54}"/>
              </a:ext>
            </a:extLst>
          </p:cNvPr>
          <p:cNvSpPr txBox="1"/>
          <p:nvPr/>
        </p:nvSpPr>
        <p:spPr>
          <a:xfrm>
            <a:off x="11485756" y="7114478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  <a:p>
            <a:endParaRPr lang="fr-FR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C0D4B9A-6B7A-9B0E-EEDB-9BFA5969388E}"/>
              </a:ext>
            </a:extLst>
          </p:cNvPr>
          <p:cNvSpPr/>
          <p:nvPr/>
        </p:nvSpPr>
        <p:spPr>
          <a:xfrm rot="-299058">
            <a:off x="11093067" y="-872901"/>
            <a:ext cx="10750098" cy="12447482"/>
          </a:xfrm>
          <a:custGeom>
            <a:avLst/>
            <a:gdLst/>
            <a:ahLst/>
            <a:cxnLst/>
            <a:rect l="l" t="t" r="r" b="b"/>
            <a:pathLst>
              <a:path w="10750098" h="12447482">
                <a:moveTo>
                  <a:pt x="0" y="0"/>
                </a:moveTo>
                <a:lnTo>
                  <a:pt x="10750099" y="0"/>
                </a:lnTo>
                <a:lnTo>
                  <a:pt x="10750099" y="12447482"/>
                </a:lnTo>
                <a:lnTo>
                  <a:pt x="0" y="124474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4">
            <a:extLst>
              <a:ext uri="{FF2B5EF4-FFF2-40B4-BE49-F238E27FC236}">
                <a16:creationId xmlns:a16="http://schemas.microsoft.com/office/drawing/2014/main" id="{B144CB01-23F8-C615-B979-A961EC256015}"/>
              </a:ext>
            </a:extLst>
          </p:cNvPr>
          <p:cNvSpPr/>
          <p:nvPr/>
        </p:nvSpPr>
        <p:spPr>
          <a:xfrm rot="-10800000">
            <a:off x="0" y="6748170"/>
            <a:ext cx="7077660" cy="7077660"/>
          </a:xfrm>
          <a:custGeom>
            <a:avLst/>
            <a:gdLst/>
            <a:ahLst/>
            <a:cxnLst/>
            <a:rect l="l" t="t" r="r" b="b"/>
            <a:pathLst>
              <a:path w="7077660" h="7077660">
                <a:moveTo>
                  <a:pt x="0" y="0"/>
                </a:moveTo>
                <a:lnTo>
                  <a:pt x="7077660" y="0"/>
                </a:lnTo>
                <a:lnTo>
                  <a:pt x="7077660" y="7077660"/>
                </a:lnTo>
                <a:lnTo>
                  <a:pt x="0" y="707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5231F0F-F6B9-81B5-D5D5-A3906627B87A}"/>
              </a:ext>
            </a:extLst>
          </p:cNvPr>
          <p:cNvSpPr txBox="1"/>
          <p:nvPr/>
        </p:nvSpPr>
        <p:spPr>
          <a:xfrm>
            <a:off x="-1" y="342899"/>
            <a:ext cx="11658601" cy="1317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ts val="11296"/>
              </a:lnSpc>
            </a:pPr>
            <a:r>
              <a:rPr lang="en-US" sz="3600" b="1" dirty="0" err="1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Présentation</a:t>
            </a:r>
            <a:r>
              <a:rPr lang="en-US" sz="3600" b="1" dirty="0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 du </a:t>
            </a:r>
            <a:r>
              <a:rPr lang="en-US" sz="3600" b="1" dirty="0" err="1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texte</a:t>
            </a:r>
            <a:endParaRPr lang="en-US" sz="3600" b="1" dirty="0">
              <a:solidFill>
                <a:srgbClr val="00325A"/>
              </a:solidFill>
              <a:latin typeface="Roca Two Bold"/>
              <a:ea typeface="Roca Two Bold"/>
              <a:cs typeface="Roca Two Bold"/>
              <a:sym typeface="Roca Two Bold"/>
            </a:endParaRP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87D37954-6405-461D-3A12-E916758B01F3}"/>
              </a:ext>
            </a:extLst>
          </p:cNvPr>
          <p:cNvSpPr/>
          <p:nvPr/>
        </p:nvSpPr>
        <p:spPr>
          <a:xfrm>
            <a:off x="-152400" y="647700"/>
            <a:ext cx="976213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0ABE9A3-A78D-1511-842C-71CACC94D520}"/>
              </a:ext>
            </a:extLst>
          </p:cNvPr>
          <p:cNvSpPr txBox="1"/>
          <p:nvPr/>
        </p:nvSpPr>
        <p:spPr>
          <a:xfrm>
            <a:off x="11658600" y="387504"/>
            <a:ext cx="19795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/>
              <a:t>03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5AD140E-0ACD-5ABF-E80E-98BA35199DAD}"/>
              </a:ext>
            </a:extLst>
          </p:cNvPr>
          <p:cNvSpPr txBox="1"/>
          <p:nvPr/>
        </p:nvSpPr>
        <p:spPr>
          <a:xfrm>
            <a:off x="1828800" y="1705172"/>
            <a:ext cx="11125200" cy="72467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SN" sz="3200" dirty="0" err="1"/>
              <a:t>AfriTalent</a:t>
            </a:r>
            <a:r>
              <a:rPr lang="fr-SN" sz="3200" dirty="0"/>
              <a:t> est un site web qui permet de trouver du travail en ligne ou de recruter des personnes pour des missions.</a:t>
            </a:r>
          </a:p>
          <a:p>
            <a:br>
              <a:rPr lang="fr-SN" sz="3200" dirty="0"/>
            </a:br>
            <a:endParaRPr lang="fr-SN" sz="3200" dirty="0"/>
          </a:p>
          <a:p>
            <a:r>
              <a:rPr lang="fr-SN" sz="3200" dirty="0"/>
              <a:t>Sur ce site, les freelances peuvent proposer leurs services comme le développement, le design ou le marketing.</a:t>
            </a:r>
          </a:p>
          <a:p>
            <a:br>
              <a:rPr lang="fr-SN" sz="3200" dirty="0"/>
            </a:br>
            <a:endParaRPr lang="fr-SN" sz="3200" dirty="0"/>
          </a:p>
          <a:p>
            <a:r>
              <a:rPr lang="fr-SN" sz="3200" dirty="0"/>
              <a:t>Et les entreprises peuvent chercher directement des personnes qualifiées pour réaliser leurs projets.</a:t>
            </a:r>
          </a:p>
          <a:p>
            <a:br>
              <a:rPr lang="fr-SN" sz="3200" dirty="0"/>
            </a:br>
            <a:endParaRPr lang="fr-SN" sz="3200" dirty="0"/>
          </a:p>
          <a:p>
            <a:r>
              <a:rPr lang="fr-SN" sz="3200" dirty="0"/>
              <a:t>L’idée, c’est de rendre la recherche de travail et de talents plus simple et plus rapide.</a:t>
            </a:r>
          </a:p>
        </p:txBody>
      </p:sp>
    </p:spTree>
    <p:extLst>
      <p:ext uri="{BB962C8B-B14F-4D97-AF65-F5344CB8AC3E}">
        <p14:creationId xmlns:p14="http://schemas.microsoft.com/office/powerpoint/2010/main" val="22837822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009650"/>
            <a:ext cx="976213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1736236" y="3820918"/>
            <a:ext cx="4434106" cy="3929931"/>
            <a:chOff x="0" y="0"/>
            <a:chExt cx="805417" cy="71383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05417" cy="713838"/>
            </a:xfrm>
            <a:custGeom>
              <a:avLst/>
              <a:gdLst/>
              <a:ahLst/>
              <a:cxnLst/>
              <a:rect l="l" t="t" r="r" b="b"/>
              <a:pathLst>
                <a:path w="805417" h="713838">
                  <a:moveTo>
                    <a:pt x="0" y="0"/>
                  </a:moveTo>
                  <a:lnTo>
                    <a:pt x="805417" y="0"/>
                  </a:lnTo>
                  <a:lnTo>
                    <a:pt x="805417" y="713838"/>
                  </a:lnTo>
                  <a:lnTo>
                    <a:pt x="0" y="713838"/>
                  </a:lnTo>
                  <a:close/>
                </a:path>
              </a:pathLst>
            </a:custGeom>
            <a:blipFill>
              <a:blip r:embed="rId2"/>
              <a:stretch>
                <a:fillRect l="-4794" r="-4794"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 rot="-3393157">
            <a:off x="12186685" y="-2133184"/>
            <a:ext cx="9373683" cy="10853738"/>
          </a:xfrm>
          <a:custGeom>
            <a:avLst/>
            <a:gdLst/>
            <a:ahLst/>
            <a:cxnLst/>
            <a:rect l="l" t="t" r="r" b="b"/>
            <a:pathLst>
              <a:path w="9373683" h="10853738">
                <a:moveTo>
                  <a:pt x="0" y="0"/>
                </a:moveTo>
                <a:lnTo>
                  <a:pt x="9373683" y="0"/>
                </a:lnTo>
                <a:lnTo>
                  <a:pt x="9373683" y="10853738"/>
                </a:lnTo>
                <a:lnTo>
                  <a:pt x="0" y="1085373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9889736">
            <a:off x="-1025801" y="7239427"/>
            <a:ext cx="7138119" cy="7138119"/>
          </a:xfrm>
          <a:custGeom>
            <a:avLst/>
            <a:gdLst/>
            <a:ahLst/>
            <a:cxnLst/>
            <a:rect l="l" t="t" r="r" b="b"/>
            <a:pathLst>
              <a:path w="7138119" h="7138119">
                <a:moveTo>
                  <a:pt x="0" y="0"/>
                </a:moveTo>
                <a:lnTo>
                  <a:pt x="7138119" y="0"/>
                </a:lnTo>
                <a:lnTo>
                  <a:pt x="7138119" y="7138120"/>
                </a:lnTo>
                <a:lnTo>
                  <a:pt x="0" y="713812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-228600" y="1607314"/>
            <a:ext cx="14859000" cy="14491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1296"/>
              </a:lnSpc>
            </a:pPr>
            <a:r>
              <a:rPr lang="en-US" sz="8068" b="1" dirty="0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Choix de </a:t>
            </a:r>
            <a:r>
              <a:rPr lang="en-US" sz="8068" b="1" dirty="0" err="1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designe</a:t>
            </a:r>
            <a:endParaRPr lang="en-US" sz="8068" b="1" dirty="0">
              <a:solidFill>
                <a:srgbClr val="00325A"/>
              </a:solidFill>
              <a:latin typeface="Roca Two Bold"/>
              <a:ea typeface="Roca Two Bold"/>
              <a:cs typeface="Roca Two Bold"/>
              <a:sym typeface="Roca Two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058400" y="419070"/>
            <a:ext cx="798705" cy="1088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796"/>
              </a:lnSpc>
            </a:pPr>
            <a:r>
              <a:rPr lang="en-US" sz="6283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04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C0364C0-035A-57F8-E6BB-2F1B2BDBA82A}"/>
              </a:ext>
            </a:extLst>
          </p:cNvPr>
          <p:cNvSpPr txBox="1"/>
          <p:nvPr/>
        </p:nvSpPr>
        <p:spPr>
          <a:xfrm>
            <a:off x="6477000" y="3654092"/>
            <a:ext cx="9938823" cy="5970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SN" sz="2800" dirty="0"/>
              <a:t>Pour ce projet, j’ai choisi un design simple, moderne et professionnel.</a:t>
            </a:r>
          </a:p>
          <a:p>
            <a:br>
              <a:rPr lang="fr-SN" sz="2800" dirty="0"/>
            </a:br>
            <a:endParaRPr lang="fr-SN" sz="2800" dirty="0"/>
          </a:p>
          <a:p>
            <a:r>
              <a:rPr lang="fr-SN" sz="2800" dirty="0"/>
              <a:t>-Interface claire et facile à utiliser</a:t>
            </a:r>
          </a:p>
          <a:p>
            <a:endParaRPr lang="fr-SN" sz="2800" dirty="0"/>
          </a:p>
          <a:p>
            <a:r>
              <a:rPr lang="fr-SN" sz="2800" dirty="0"/>
              <a:t>Utilisation d’espaces pour améliorer la lisibilité</a:t>
            </a:r>
          </a:p>
          <a:p>
            <a:endParaRPr lang="fr-SN" sz="2800" dirty="0"/>
          </a:p>
          <a:p>
            <a:r>
              <a:rPr lang="fr-SN" sz="2800" dirty="0"/>
              <a:t>-Mise en page inspirée du style Bento </a:t>
            </a:r>
            <a:r>
              <a:rPr lang="fr-SN" sz="2800" dirty="0" err="1"/>
              <a:t>Grid</a:t>
            </a:r>
            <a:endParaRPr lang="fr-SN" sz="2800" dirty="0"/>
          </a:p>
          <a:p>
            <a:endParaRPr lang="fr-SN" sz="2800" dirty="0"/>
          </a:p>
          <a:p>
            <a:r>
              <a:rPr lang="fr-SN" sz="2800" dirty="0"/>
              <a:t>-Design responsive adapté aux ordinateurs, tablettes et mobiles</a:t>
            </a:r>
          </a:p>
          <a:p>
            <a:endParaRPr lang="fr-SN" sz="2800" dirty="0"/>
          </a:p>
          <a:p>
            <a:r>
              <a:rPr lang="fr-SN" sz="2800" dirty="0"/>
              <a:t>- Accent mis sur l’expérience utilisateur</a:t>
            </a:r>
          </a:p>
          <a:p>
            <a:endParaRPr lang="fr-SN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99058">
            <a:off x="11093067" y="-872901"/>
            <a:ext cx="10750098" cy="12447482"/>
          </a:xfrm>
          <a:custGeom>
            <a:avLst/>
            <a:gdLst/>
            <a:ahLst/>
            <a:cxnLst/>
            <a:rect l="l" t="t" r="r" b="b"/>
            <a:pathLst>
              <a:path w="10750098" h="12447482">
                <a:moveTo>
                  <a:pt x="0" y="0"/>
                </a:moveTo>
                <a:lnTo>
                  <a:pt x="10750099" y="0"/>
                </a:lnTo>
                <a:lnTo>
                  <a:pt x="10750099" y="12447482"/>
                </a:lnTo>
                <a:lnTo>
                  <a:pt x="0" y="124474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0" y="1009650"/>
            <a:ext cx="976213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 rot="-10800000">
            <a:off x="0" y="6748170"/>
            <a:ext cx="7077660" cy="7077660"/>
          </a:xfrm>
          <a:custGeom>
            <a:avLst/>
            <a:gdLst/>
            <a:ahLst/>
            <a:cxnLst/>
            <a:rect l="l" t="t" r="r" b="b"/>
            <a:pathLst>
              <a:path w="7077660" h="7077660">
                <a:moveTo>
                  <a:pt x="0" y="0"/>
                </a:moveTo>
                <a:lnTo>
                  <a:pt x="7077660" y="0"/>
                </a:lnTo>
                <a:lnTo>
                  <a:pt x="7077660" y="7077660"/>
                </a:lnTo>
                <a:lnTo>
                  <a:pt x="0" y="707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371600" y="1175669"/>
            <a:ext cx="8735398" cy="9105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095"/>
              </a:lnSpc>
            </a:pPr>
            <a:r>
              <a:rPr lang="en-US" sz="5067" b="1" dirty="0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PALETTE DE COULEURS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3674734"/>
            <a:ext cx="10625430" cy="3474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4"/>
              </a:lnSpc>
            </a:pPr>
            <a:endParaRPr lang="en-US" sz="2031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058400" y="504795"/>
            <a:ext cx="798705" cy="680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25"/>
              </a:lnSpc>
            </a:pPr>
            <a:r>
              <a:rPr lang="en-US" sz="3946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05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610CDBB-D6A1-EE23-EF30-888C44977DD1}"/>
              </a:ext>
            </a:extLst>
          </p:cNvPr>
          <p:cNvSpPr txBox="1"/>
          <p:nvPr/>
        </p:nvSpPr>
        <p:spPr>
          <a:xfrm>
            <a:off x="1086880" y="2476505"/>
            <a:ext cx="1179092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SN" sz="2400" dirty="0"/>
              <a:t>Le site utilise principalement des couleurs sobres afin de conserver un aspect professionnel.</a:t>
            </a:r>
          </a:p>
          <a:p>
            <a:endParaRPr lang="fr-SN" sz="2400" dirty="0"/>
          </a:p>
          <a:p>
            <a:r>
              <a:rPr lang="fr-SN" sz="2400" dirty="0"/>
              <a:t>-Noir : textes principaux</a:t>
            </a:r>
          </a:p>
          <a:p>
            <a:endParaRPr lang="fr-SN" sz="2400" dirty="0"/>
          </a:p>
          <a:p>
            <a:r>
              <a:rPr lang="fr-SN" sz="2400" dirty="0"/>
              <a:t>-Blanc : arrière-plans</a:t>
            </a:r>
          </a:p>
          <a:p>
            <a:endParaRPr lang="fr-SN" sz="2400" dirty="0"/>
          </a:p>
          <a:p>
            <a:r>
              <a:rPr lang="fr-SN" sz="2400" dirty="0"/>
              <a:t>-Gris : éléments secondaires</a:t>
            </a:r>
          </a:p>
          <a:p>
            <a:endParaRPr lang="fr-SN" sz="2400" dirty="0"/>
          </a:p>
          <a:p>
            <a:r>
              <a:rPr lang="fr-SN" sz="2400" dirty="0"/>
              <a:t>-Bleu : boutons, icônes et informations importantes</a:t>
            </a:r>
          </a:p>
          <a:p>
            <a:endParaRPr lang="fr-SN" sz="2400" dirty="0"/>
          </a:p>
          <a:p>
            <a:r>
              <a:rPr lang="fr-SN" sz="2400" b="1" dirty="0"/>
              <a:t>Polices utilisées :</a:t>
            </a:r>
          </a:p>
          <a:p>
            <a:endParaRPr lang="fr-SN" sz="2400" dirty="0"/>
          </a:p>
          <a:p>
            <a:r>
              <a:rPr lang="fr-SN" sz="2400" dirty="0"/>
              <a:t>- Police moderne pour les titres</a:t>
            </a:r>
          </a:p>
          <a:p>
            <a:endParaRPr lang="fr-SN" sz="2400" dirty="0"/>
          </a:p>
          <a:p>
            <a:r>
              <a:rPr lang="fr-SN" sz="2400" dirty="0"/>
              <a:t>- Police simple et lisible pour le contenu</a:t>
            </a:r>
          </a:p>
          <a:p>
            <a:endParaRPr lang="fr-FR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99058">
            <a:off x="11093067" y="-872901"/>
            <a:ext cx="10750098" cy="12447482"/>
          </a:xfrm>
          <a:custGeom>
            <a:avLst/>
            <a:gdLst/>
            <a:ahLst/>
            <a:cxnLst/>
            <a:rect l="l" t="t" r="r" b="b"/>
            <a:pathLst>
              <a:path w="10750098" h="12447482">
                <a:moveTo>
                  <a:pt x="0" y="0"/>
                </a:moveTo>
                <a:lnTo>
                  <a:pt x="10750099" y="0"/>
                </a:lnTo>
                <a:lnTo>
                  <a:pt x="10750099" y="12447482"/>
                </a:lnTo>
                <a:lnTo>
                  <a:pt x="0" y="124474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0" y="1009650"/>
            <a:ext cx="976213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 rot="-10800000">
            <a:off x="0" y="6748170"/>
            <a:ext cx="7077660" cy="7077660"/>
          </a:xfrm>
          <a:custGeom>
            <a:avLst/>
            <a:gdLst/>
            <a:ahLst/>
            <a:cxnLst/>
            <a:rect l="l" t="t" r="r" b="b"/>
            <a:pathLst>
              <a:path w="7077660" h="7077660">
                <a:moveTo>
                  <a:pt x="0" y="0"/>
                </a:moveTo>
                <a:lnTo>
                  <a:pt x="7077660" y="0"/>
                </a:lnTo>
                <a:lnTo>
                  <a:pt x="7077660" y="7077660"/>
                </a:lnTo>
                <a:lnTo>
                  <a:pt x="0" y="707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371601" y="1507189"/>
            <a:ext cx="8735398" cy="11669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106"/>
              </a:lnSpc>
            </a:pPr>
            <a:r>
              <a:rPr lang="en-US" sz="6504" b="1" dirty="0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STRUCTURE DU SITE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106998" y="419070"/>
            <a:ext cx="798705" cy="1088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796"/>
              </a:lnSpc>
            </a:pPr>
            <a:r>
              <a:rPr lang="en-US" sz="6283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06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4DD1574-1072-7342-BBF6-8F8D8DED00D3}"/>
              </a:ext>
            </a:extLst>
          </p:cNvPr>
          <p:cNvSpPr txBox="1"/>
          <p:nvPr/>
        </p:nvSpPr>
        <p:spPr>
          <a:xfrm>
            <a:off x="1143000" y="2674175"/>
            <a:ext cx="10659765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SN" sz="2400" dirty="0"/>
              <a:t>Le site est organisé en cinq pages principales reliées par une barre de navigation commune.</a:t>
            </a:r>
          </a:p>
          <a:p>
            <a:endParaRPr lang="fr-SN" sz="2400" dirty="0"/>
          </a:p>
          <a:p>
            <a:r>
              <a:rPr lang="fr-SN" sz="2400" dirty="0"/>
              <a:t>    1: Accueil (présentation de la plateforme)</a:t>
            </a:r>
          </a:p>
          <a:p>
            <a:endParaRPr lang="fr-SN" sz="2400" dirty="0"/>
          </a:p>
          <a:p>
            <a:r>
              <a:rPr lang="fr-SN" sz="2400" dirty="0"/>
              <a:t>    2: Freelances (catalogue des profils)</a:t>
            </a:r>
          </a:p>
          <a:p>
            <a:endParaRPr lang="fr-SN" sz="2400" dirty="0"/>
          </a:p>
          <a:p>
            <a:r>
              <a:rPr lang="fr-SN" sz="2400" dirty="0"/>
              <a:t>    3: Tarifs (offres et FAQ)</a:t>
            </a:r>
          </a:p>
          <a:p>
            <a:endParaRPr lang="fr-SN" sz="2400" dirty="0"/>
          </a:p>
          <a:p>
            <a:r>
              <a:rPr lang="fr-SN" sz="2400" dirty="0"/>
              <a:t>    4: À propos (histoire, équipe et valeurs)</a:t>
            </a:r>
          </a:p>
          <a:p>
            <a:endParaRPr lang="fr-SN" sz="2400" dirty="0"/>
          </a:p>
          <a:p>
            <a:r>
              <a:rPr lang="fr-SN" sz="2400" dirty="0"/>
              <a:t>    5: Contact (formulaire et informations)</a:t>
            </a:r>
          </a:p>
          <a:p>
            <a:endParaRPr lang="fr-SN" sz="2400" dirty="0"/>
          </a:p>
          <a:p>
            <a:r>
              <a:rPr lang="fr-SN" sz="2400" dirty="0"/>
              <a:t>Cette structure permet une navigation simple et intuitive.</a:t>
            </a:r>
          </a:p>
          <a:p>
            <a:endParaRPr lang="fr-FR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99058">
            <a:off x="11093067" y="-872901"/>
            <a:ext cx="10750098" cy="12447482"/>
          </a:xfrm>
          <a:custGeom>
            <a:avLst/>
            <a:gdLst/>
            <a:ahLst/>
            <a:cxnLst/>
            <a:rect l="l" t="t" r="r" b="b"/>
            <a:pathLst>
              <a:path w="10750098" h="12447482">
                <a:moveTo>
                  <a:pt x="0" y="0"/>
                </a:moveTo>
                <a:lnTo>
                  <a:pt x="10750099" y="0"/>
                </a:lnTo>
                <a:lnTo>
                  <a:pt x="10750099" y="12447482"/>
                </a:lnTo>
                <a:lnTo>
                  <a:pt x="0" y="124474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0" y="1009650"/>
            <a:ext cx="976213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 rot="-10800000">
            <a:off x="0" y="6748170"/>
            <a:ext cx="7077660" cy="7077660"/>
          </a:xfrm>
          <a:custGeom>
            <a:avLst/>
            <a:gdLst/>
            <a:ahLst/>
            <a:cxnLst/>
            <a:rect l="l" t="t" r="r" b="b"/>
            <a:pathLst>
              <a:path w="7077660" h="7077660">
                <a:moveTo>
                  <a:pt x="0" y="0"/>
                </a:moveTo>
                <a:lnTo>
                  <a:pt x="7077660" y="0"/>
                </a:lnTo>
                <a:lnTo>
                  <a:pt x="7077660" y="7077660"/>
                </a:lnTo>
                <a:lnTo>
                  <a:pt x="0" y="707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0" y="1105909"/>
            <a:ext cx="7715346" cy="679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320"/>
              </a:lnSpc>
            </a:pPr>
            <a:r>
              <a:rPr lang="en-US" sz="3800" b="1" dirty="0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Aspects Techniques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107045" y="542895"/>
            <a:ext cx="798612" cy="579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42"/>
              </a:lnSpc>
            </a:pPr>
            <a:r>
              <a:rPr lang="en-US" sz="4800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07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CB2DAFE-D7F5-F44E-93AE-C879847C9138}"/>
              </a:ext>
            </a:extLst>
          </p:cNvPr>
          <p:cNvSpPr txBox="1"/>
          <p:nvPr/>
        </p:nvSpPr>
        <p:spPr>
          <a:xfrm>
            <a:off x="1905000" y="1714500"/>
            <a:ext cx="12877800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SN" sz="2800" dirty="0"/>
              <a:t>Le développement du site repose sur plusieurs technologies complémentaires.</a:t>
            </a:r>
          </a:p>
          <a:p>
            <a:endParaRPr lang="fr-SN" sz="2800" dirty="0"/>
          </a:p>
          <a:p>
            <a:r>
              <a:rPr lang="fr-SN" sz="2800" dirty="0"/>
              <a:t>	-HTML5 pour la structure des pages</a:t>
            </a:r>
          </a:p>
          <a:p>
            <a:r>
              <a:rPr lang="fr-SN" sz="2800" dirty="0"/>
              <a:t>	-CSS3 pour la mise en forme</a:t>
            </a:r>
          </a:p>
          <a:p>
            <a:r>
              <a:rPr lang="fr-SN" sz="2800" dirty="0"/>
              <a:t>	-Bootstrap 5 pour le responsive design</a:t>
            </a:r>
          </a:p>
          <a:p>
            <a:r>
              <a:rPr lang="fr-SN" sz="2800" dirty="0"/>
              <a:t>	-JavaScript pour les interactions dynamiques</a:t>
            </a:r>
          </a:p>
          <a:p>
            <a:r>
              <a:rPr lang="fr-SN" sz="2800" dirty="0"/>
              <a:t>	-Git et GitHub pour le suivi du projet</a:t>
            </a:r>
          </a:p>
          <a:p>
            <a:endParaRPr lang="fr-SN" sz="2800" dirty="0"/>
          </a:p>
          <a:p>
            <a:r>
              <a:rPr lang="fr-SN" sz="2800" b="1" dirty="0"/>
              <a:t>Fonctionnalités développées :</a:t>
            </a:r>
          </a:p>
          <a:p>
            <a:endParaRPr lang="fr-SN" sz="2800" dirty="0"/>
          </a:p>
          <a:p>
            <a:r>
              <a:rPr lang="fr-SN" sz="2800" dirty="0"/>
              <a:t>	-Dark Mode / Light Mode</a:t>
            </a:r>
          </a:p>
          <a:p>
            <a:r>
              <a:rPr lang="fr-SN" sz="2800" dirty="0"/>
              <a:t>	-Compteurs animés</a:t>
            </a:r>
          </a:p>
          <a:p>
            <a:r>
              <a:rPr lang="fr-SN" sz="2800" dirty="0"/>
              <a:t>	-Filtrage des freelances</a:t>
            </a:r>
          </a:p>
          <a:p>
            <a:r>
              <a:rPr lang="fr-SN" sz="2800" dirty="0"/>
              <a:t>	-Validation du formulaire</a:t>
            </a:r>
          </a:p>
          <a:p>
            <a:r>
              <a:rPr lang="fr-SN" sz="2800" dirty="0"/>
              <a:t>	-Bouton retour en haut</a:t>
            </a:r>
          </a:p>
          <a:p>
            <a:r>
              <a:rPr lang="fr-SN" sz="2800" dirty="0"/>
              <a:t>	-Animations au défilement</a:t>
            </a:r>
          </a:p>
          <a:p>
            <a:br>
              <a:rPr lang="fr-SN" sz="2800" dirty="0"/>
            </a:br>
            <a:endParaRPr lang="fr-FR" sz="2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99058">
            <a:off x="11093067" y="-872901"/>
            <a:ext cx="10750098" cy="12447482"/>
          </a:xfrm>
          <a:custGeom>
            <a:avLst/>
            <a:gdLst/>
            <a:ahLst/>
            <a:cxnLst/>
            <a:rect l="l" t="t" r="r" b="b"/>
            <a:pathLst>
              <a:path w="10750098" h="12447482">
                <a:moveTo>
                  <a:pt x="0" y="0"/>
                </a:moveTo>
                <a:lnTo>
                  <a:pt x="10750099" y="0"/>
                </a:lnTo>
                <a:lnTo>
                  <a:pt x="10750099" y="12447482"/>
                </a:lnTo>
                <a:lnTo>
                  <a:pt x="0" y="124474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0" y="1009650"/>
            <a:ext cx="976213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 rot="-10800000">
            <a:off x="0" y="6748170"/>
            <a:ext cx="7077660" cy="7077660"/>
          </a:xfrm>
          <a:custGeom>
            <a:avLst/>
            <a:gdLst/>
            <a:ahLst/>
            <a:cxnLst/>
            <a:rect l="l" t="t" r="r" b="b"/>
            <a:pathLst>
              <a:path w="7077660" h="7077660">
                <a:moveTo>
                  <a:pt x="0" y="0"/>
                </a:moveTo>
                <a:lnTo>
                  <a:pt x="7077660" y="0"/>
                </a:lnTo>
                <a:lnTo>
                  <a:pt x="7077660" y="7077660"/>
                </a:lnTo>
                <a:lnTo>
                  <a:pt x="0" y="707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990600" y="1301942"/>
            <a:ext cx="7620000" cy="666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201"/>
              </a:lnSpc>
            </a:pPr>
            <a:r>
              <a:rPr lang="en-US" sz="3715" b="1" dirty="0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GITHUB &amp; DÉPLOIEMENT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38200" y="2261082"/>
            <a:ext cx="12877800" cy="46912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SN" sz="3200" dirty="0"/>
              <a:t>GitHub a été utilisé pour sauvegarder et suivre l'évolution du projet</a:t>
            </a:r>
          </a:p>
          <a:p>
            <a:endParaRPr lang="fr-SN" sz="3200" dirty="0"/>
          </a:p>
          <a:p>
            <a:r>
              <a:rPr lang="fr-SN" sz="3200" dirty="0"/>
              <a:t>	-Création d'un dépôt GitHub</a:t>
            </a:r>
          </a:p>
          <a:p>
            <a:endParaRPr lang="fr-SN" sz="3200" dirty="0"/>
          </a:p>
          <a:p>
            <a:r>
              <a:rPr lang="fr-SN" sz="3200" dirty="0"/>
              <a:t>	-Utilisation de </a:t>
            </a:r>
            <a:r>
              <a:rPr lang="fr-SN" sz="3200" dirty="0" err="1"/>
              <a:t>commits</a:t>
            </a:r>
            <a:r>
              <a:rPr lang="fr-SN" sz="3200" dirty="0"/>
              <a:t> réguliers</a:t>
            </a:r>
          </a:p>
          <a:p>
            <a:endParaRPr lang="fr-SN" sz="3200" dirty="0"/>
          </a:p>
          <a:p>
            <a:r>
              <a:rPr lang="fr-SN" sz="3200" dirty="0"/>
              <a:t>	-Suivi des différentes étapes du développement</a:t>
            </a:r>
          </a:p>
          <a:p>
            <a:endParaRPr lang="fr-SN" sz="3200" dirty="0"/>
          </a:p>
          <a:p>
            <a:r>
              <a:rPr lang="fr-SN" sz="3200" dirty="0"/>
              <a:t>	-Publication du site avec GitHub Pages</a:t>
            </a:r>
          </a:p>
          <a:p>
            <a:pPr marL="0" lvl="0" indent="0" algn="l">
              <a:lnSpc>
                <a:spcPts val="2085"/>
              </a:lnSpc>
            </a:pPr>
            <a:endParaRPr lang="en-US" sz="1489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50295" y="542895"/>
            <a:ext cx="798705" cy="579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050"/>
              </a:lnSpc>
            </a:pPr>
            <a:r>
              <a:rPr lang="en-US" sz="4800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99058">
            <a:off x="11093067" y="-872901"/>
            <a:ext cx="10750098" cy="12447482"/>
          </a:xfrm>
          <a:custGeom>
            <a:avLst/>
            <a:gdLst/>
            <a:ahLst/>
            <a:cxnLst/>
            <a:rect l="l" t="t" r="r" b="b"/>
            <a:pathLst>
              <a:path w="10750098" h="12447482">
                <a:moveTo>
                  <a:pt x="0" y="0"/>
                </a:moveTo>
                <a:lnTo>
                  <a:pt x="10750099" y="0"/>
                </a:lnTo>
                <a:lnTo>
                  <a:pt x="10750099" y="12447482"/>
                </a:lnTo>
                <a:lnTo>
                  <a:pt x="0" y="124474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0" y="1009650"/>
            <a:ext cx="976213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 rot="-10800000">
            <a:off x="0" y="6748170"/>
            <a:ext cx="7077660" cy="7077660"/>
          </a:xfrm>
          <a:custGeom>
            <a:avLst/>
            <a:gdLst/>
            <a:ahLst/>
            <a:cxnLst/>
            <a:rect l="l" t="t" r="r" b="b"/>
            <a:pathLst>
              <a:path w="7077660" h="7077660">
                <a:moveTo>
                  <a:pt x="0" y="0"/>
                </a:moveTo>
                <a:lnTo>
                  <a:pt x="7077660" y="0"/>
                </a:lnTo>
                <a:lnTo>
                  <a:pt x="7077660" y="7077660"/>
                </a:lnTo>
                <a:lnTo>
                  <a:pt x="0" y="707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914400" y="1387426"/>
            <a:ext cx="8847738" cy="666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201"/>
              </a:lnSpc>
            </a:pPr>
            <a:r>
              <a:rPr lang="en-US" sz="3715" b="1" dirty="0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DIFFICULTÉS RENCONTRÉES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106998" y="542895"/>
            <a:ext cx="798705" cy="579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050"/>
              </a:lnSpc>
            </a:pPr>
            <a:r>
              <a:rPr lang="en-US" sz="4800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09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2847407-5480-8423-E83F-4F52801195F2}"/>
              </a:ext>
            </a:extLst>
          </p:cNvPr>
          <p:cNvSpPr txBox="1"/>
          <p:nvPr/>
        </p:nvSpPr>
        <p:spPr>
          <a:xfrm>
            <a:off x="533400" y="2432051"/>
            <a:ext cx="16053348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SN" sz="3200" dirty="0"/>
              <a:t>Plusieurs difficultés ont été rencontrées durant le développement.</a:t>
            </a:r>
          </a:p>
          <a:p>
            <a:endParaRPr lang="fr-SN" sz="3200" dirty="0"/>
          </a:p>
          <a:p>
            <a:r>
              <a:rPr lang="fr-SN" sz="3200" dirty="0"/>
              <a:t>	-Mise en place du responsive design</a:t>
            </a:r>
          </a:p>
          <a:p>
            <a:endParaRPr lang="fr-SN" sz="3200" dirty="0"/>
          </a:p>
          <a:p>
            <a:r>
              <a:rPr lang="fr-SN" sz="3200" dirty="0"/>
              <a:t>	-Gestion des chemins des images</a:t>
            </a:r>
          </a:p>
          <a:p>
            <a:endParaRPr lang="fr-SN" sz="3200" dirty="0"/>
          </a:p>
          <a:p>
            <a:r>
              <a:rPr lang="fr-SN" sz="3200" dirty="0"/>
              <a:t>	-Configuration de GitHub Pages</a:t>
            </a:r>
          </a:p>
          <a:p>
            <a:endParaRPr lang="fr-SN" sz="3200" dirty="0"/>
          </a:p>
          <a:p>
            <a:r>
              <a:rPr lang="fr-SN" sz="3200" dirty="0"/>
              <a:t>	-Organisation du code JavaScript</a:t>
            </a:r>
          </a:p>
          <a:p>
            <a:endParaRPr lang="fr-SN" sz="3200" dirty="0"/>
          </a:p>
          <a:p>
            <a:r>
              <a:rPr lang="fr-SN" sz="3200" dirty="0"/>
              <a:t>	-Compatibilité entre les différentes pages</a:t>
            </a:r>
          </a:p>
          <a:p>
            <a:endParaRPr lang="fr-FR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99058">
            <a:off x="11093067" y="-872901"/>
            <a:ext cx="10750098" cy="12447482"/>
          </a:xfrm>
          <a:custGeom>
            <a:avLst/>
            <a:gdLst/>
            <a:ahLst/>
            <a:cxnLst/>
            <a:rect l="l" t="t" r="r" b="b"/>
            <a:pathLst>
              <a:path w="10750098" h="12447482">
                <a:moveTo>
                  <a:pt x="0" y="0"/>
                </a:moveTo>
                <a:lnTo>
                  <a:pt x="10750099" y="0"/>
                </a:lnTo>
                <a:lnTo>
                  <a:pt x="10750099" y="12447482"/>
                </a:lnTo>
                <a:lnTo>
                  <a:pt x="0" y="124474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0" y="1009650"/>
            <a:ext cx="976213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 rot="-10800000">
            <a:off x="0" y="6748170"/>
            <a:ext cx="7077660" cy="7077660"/>
          </a:xfrm>
          <a:custGeom>
            <a:avLst/>
            <a:gdLst/>
            <a:ahLst/>
            <a:cxnLst/>
            <a:rect l="l" t="t" r="r" b="b"/>
            <a:pathLst>
              <a:path w="7077660" h="7077660">
                <a:moveTo>
                  <a:pt x="0" y="0"/>
                </a:moveTo>
                <a:lnTo>
                  <a:pt x="7077660" y="0"/>
                </a:lnTo>
                <a:lnTo>
                  <a:pt x="7077660" y="7077660"/>
                </a:lnTo>
                <a:lnTo>
                  <a:pt x="0" y="707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524001" y="1409701"/>
            <a:ext cx="6781800" cy="666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201"/>
              </a:lnSpc>
            </a:pPr>
            <a:r>
              <a:rPr lang="en-US" sz="3715" b="1" dirty="0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SOLUTIONS APPORTÉES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107045" y="542895"/>
            <a:ext cx="798612" cy="579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050"/>
              </a:lnSpc>
            </a:pPr>
            <a:r>
              <a:rPr lang="en-US" sz="4800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38200" y="2476600"/>
            <a:ext cx="12268200" cy="58922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SN" sz="3200" dirty="0"/>
              <a:t>Pour résoudre ces difficultés, plusieurs solutions ont été mises en place.</a:t>
            </a:r>
          </a:p>
          <a:p>
            <a:endParaRPr lang="fr-SN" sz="3200" dirty="0"/>
          </a:p>
          <a:p>
            <a:r>
              <a:rPr lang="fr-SN" sz="3200" dirty="0"/>
              <a:t>     -Tests réguliers sur différents écrans</a:t>
            </a:r>
          </a:p>
          <a:p>
            <a:endParaRPr lang="fr-SN" sz="3200" dirty="0"/>
          </a:p>
          <a:p>
            <a:r>
              <a:rPr lang="fr-SN" sz="3200" dirty="0"/>
              <a:t>     -Vérification des liens et chemins des fichiers</a:t>
            </a:r>
          </a:p>
          <a:p>
            <a:endParaRPr lang="fr-SN" sz="3200" dirty="0"/>
          </a:p>
          <a:p>
            <a:r>
              <a:rPr lang="fr-SN" sz="3200" dirty="0"/>
              <a:t>     -Utilisation de Git pour suivre les modifications</a:t>
            </a:r>
          </a:p>
          <a:p>
            <a:endParaRPr lang="fr-SN" sz="3200" dirty="0"/>
          </a:p>
          <a:p>
            <a:r>
              <a:rPr lang="fr-SN" sz="3200" dirty="0"/>
              <a:t>     -Correction progressive des erreurs</a:t>
            </a:r>
          </a:p>
          <a:p>
            <a:endParaRPr lang="fr-SN" sz="3200" dirty="0"/>
          </a:p>
          <a:p>
            <a:r>
              <a:rPr lang="fr-SN" sz="3200" dirty="0"/>
              <a:t>     -Réorganisation du code pour une meilleure lisibilité</a:t>
            </a:r>
          </a:p>
          <a:p>
            <a:br>
              <a:rPr lang="fr-SN" sz="1600" dirty="0"/>
            </a:br>
            <a:endParaRPr lang="en-US" sz="1489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3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99058">
            <a:off x="11093067" y="-872901"/>
            <a:ext cx="10750098" cy="12447482"/>
          </a:xfrm>
          <a:custGeom>
            <a:avLst/>
            <a:gdLst/>
            <a:ahLst/>
            <a:cxnLst/>
            <a:rect l="l" t="t" r="r" b="b"/>
            <a:pathLst>
              <a:path w="10750098" h="12447482">
                <a:moveTo>
                  <a:pt x="0" y="0"/>
                </a:moveTo>
                <a:lnTo>
                  <a:pt x="10750099" y="0"/>
                </a:lnTo>
                <a:lnTo>
                  <a:pt x="10750099" y="12447482"/>
                </a:lnTo>
                <a:lnTo>
                  <a:pt x="0" y="124474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0" y="1009650"/>
            <a:ext cx="976213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 rot="-10800000">
            <a:off x="0" y="6748170"/>
            <a:ext cx="7077660" cy="7077660"/>
          </a:xfrm>
          <a:custGeom>
            <a:avLst/>
            <a:gdLst/>
            <a:ahLst/>
            <a:cxnLst/>
            <a:rect l="l" t="t" r="r" b="b"/>
            <a:pathLst>
              <a:path w="7077660" h="7077660">
                <a:moveTo>
                  <a:pt x="0" y="0"/>
                </a:moveTo>
                <a:lnTo>
                  <a:pt x="7077660" y="0"/>
                </a:lnTo>
                <a:lnTo>
                  <a:pt x="7077660" y="7077660"/>
                </a:lnTo>
                <a:lnTo>
                  <a:pt x="0" y="707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371600" y="1409704"/>
            <a:ext cx="7222935" cy="14491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1296"/>
              </a:lnSpc>
            </a:pPr>
            <a:r>
              <a:rPr lang="en-US" sz="8068" b="1" dirty="0">
                <a:solidFill>
                  <a:srgbClr val="00325A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CONCLUSION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14400" y="2858820"/>
            <a:ext cx="14173200" cy="53553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200"/>
              </a:lnSpc>
            </a:pP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AfriTalent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a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été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une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première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expérience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concrète et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enrichissante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en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</a:t>
            </a:r>
          </a:p>
          <a:p>
            <a:pPr marL="0" lvl="0" indent="0" algn="l">
              <a:lnSpc>
                <a:spcPts val="3200"/>
              </a:lnSpc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0" lvl="0" indent="0" algn="l">
              <a:lnSpc>
                <a:spcPts val="3200"/>
              </a:lnSpc>
            </a:pP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développement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web.</a:t>
            </a:r>
          </a:p>
          <a:p>
            <a:pPr marL="0" lvl="0" indent="0" algn="l">
              <a:lnSpc>
                <a:spcPts val="3200"/>
              </a:lnSpc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493499" lvl="1" indent="-246749" algn="l">
              <a:lnSpc>
                <a:spcPts val="3200"/>
              </a:lnSpc>
              <a:buFont typeface="Arial"/>
              <a:buChar char="•"/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Un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projet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réalisé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de A à Z, de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l'idée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au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déploiement</a:t>
            </a: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493499" lvl="1" indent="-246749" algn="l">
              <a:lnSpc>
                <a:spcPts val="3200"/>
              </a:lnSpc>
              <a:buFont typeface="Arial"/>
              <a:buChar char="•"/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493499" lvl="1" indent="-246749" algn="l">
              <a:lnSpc>
                <a:spcPts val="3200"/>
              </a:lnSpc>
              <a:buFont typeface="Arial"/>
              <a:buChar char="•"/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Des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compétences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techniques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acquises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en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conditions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réelles</a:t>
            </a: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493499" lvl="1" indent="-246749" algn="l">
              <a:lnSpc>
                <a:spcPts val="3200"/>
              </a:lnSpc>
              <a:buFont typeface="Arial"/>
              <a:buChar char="•"/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493499" lvl="1" indent="-246749" algn="l">
              <a:lnSpc>
                <a:spcPts val="3200"/>
              </a:lnSpc>
              <a:buFont typeface="Arial"/>
              <a:buChar char="•"/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Un travail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d'équipe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qui nous a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appris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à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collaborer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et à nous organizer</a:t>
            </a:r>
          </a:p>
          <a:p>
            <a:pPr marL="493499" lvl="1" indent="-246749" algn="l">
              <a:lnSpc>
                <a:spcPts val="3200"/>
              </a:lnSpc>
              <a:buFont typeface="Arial"/>
              <a:buChar char="•"/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493499" lvl="1" indent="-246749" algn="l">
              <a:lnSpc>
                <a:spcPts val="3200"/>
              </a:lnSpc>
              <a:buFont typeface="Arial"/>
              <a:buChar char="•"/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Une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plateforme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fonctionnelle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dont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on est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fiers</a:t>
            </a: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493499" lvl="1" indent="-246749" algn="l">
              <a:lnSpc>
                <a:spcPts val="3200"/>
              </a:lnSpc>
              <a:buFont typeface="Arial"/>
              <a:buChar char="•"/>
            </a:pP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  <a:p>
            <a:pPr marL="493499" lvl="1" indent="-246749" algn="l">
              <a:lnSpc>
                <a:spcPts val="3200"/>
              </a:lnSpc>
              <a:buFont typeface="Arial"/>
              <a:buChar char="•"/>
            </a:pP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Une base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solide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pour de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futurs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projets</a:t>
            </a:r>
            <a:r>
              <a:rPr lang="en-US" sz="3200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professionnels</a:t>
            </a:r>
            <a:endParaRPr lang="en-US" sz="3200" dirty="0">
              <a:solidFill>
                <a:srgbClr val="000000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106998" y="419070"/>
            <a:ext cx="798705" cy="1088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796"/>
              </a:lnSpc>
            </a:pPr>
            <a:r>
              <a:rPr lang="en-US" sz="6283" b="1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658</Words>
  <Application>Microsoft Macintosh PowerPoint</Application>
  <PresentationFormat>Personnalisé</PresentationFormat>
  <Paragraphs>166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9" baseType="lpstr">
      <vt:lpstr>Cormorant Garamond</vt:lpstr>
      <vt:lpstr>Calibri</vt:lpstr>
      <vt:lpstr>Roca Two Bold</vt:lpstr>
      <vt:lpstr>Times New Roman MT</vt:lpstr>
      <vt:lpstr>Beautifully Delicious Script</vt:lpstr>
      <vt:lpstr>Times New Roman MT Bold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fatoumorndiaye17@gmail.com</cp:lastModifiedBy>
  <cp:revision>3</cp:revision>
  <dcterms:created xsi:type="dcterms:W3CDTF">2006-08-16T00:00:00Z</dcterms:created>
  <dcterms:modified xsi:type="dcterms:W3CDTF">2026-06-24T00:58:54Z</dcterms:modified>
  <dc:identifier>DAHNbspBYBQ</dc:identifier>
</cp:coreProperties>
</file>